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ba81cb7acd45d6" /><Relationship Type="http://schemas.openxmlformats.org/officeDocument/2006/relationships/extended-properties" Target="/docProps/app.xml" Id="R6a5354bcfe9d4682" /><Relationship Type="http://schemas.openxmlformats.org/officeDocument/2006/relationships/officeDocument" Target="/ppt/presentation.xml" Id="Rb2d4253c171c43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7ae91ab524f03"/>
  </p:sldMasterIdLst>
  <p:notesMasterIdLst>
    <p:notesMasterId xmlns:r="http://schemas.openxmlformats.org/officeDocument/2006/relationships" r:id="R136b5669467946c7"/>
  </p:notesMasterIdLst>
  <p:sldIdLst>
    <p:sldId xmlns:r="http://schemas.openxmlformats.org/officeDocument/2006/relationships" id="256" r:id="Rc50040bbb3ac4aef"/>
  </p:sldIdLst>
  <p:sldSz cx="12192000" cy="33813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fe4eb1b0de4ffd" /><Relationship Type="http://schemas.openxmlformats.org/officeDocument/2006/relationships/slideMaster" Target="/ppt/slideMasters/slideMaster1.xml" Id="Rb047ae91ab524f03" /><Relationship Type="http://schemas.openxmlformats.org/officeDocument/2006/relationships/notesMaster" Target="/ppt/notesMasters/notesMaster1.xml" Id="R136b5669467946c7" /><Relationship Type="http://schemas.openxmlformats.org/officeDocument/2006/relationships/presProps" Target="/ppt/presProps.xml" Id="Rf143281046234993" /><Relationship Type="http://schemas.openxmlformats.org/officeDocument/2006/relationships/tableStyles" Target="/ppt/tableStyles.xml" Id="Rec40fb153a904d68" /><Relationship Type="http://schemas.openxmlformats.org/officeDocument/2006/relationships/slide" Target="/ppt/slides/slide1.xml" Id="Rc50040bbb3ac4a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7852b972b043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2b347b776147a2" /><Relationship Type="http://schemas.openxmlformats.org/officeDocument/2006/relationships/notesMaster" Target="/ppt/notesMasters/notesMaster1.xml" Id="R0dc549eb6ca94a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Cabrera-Arteaga et al., WebAssembly diversification for malware evasion (2023), Section 3 and Figure 1: https://arxiv.org/pdf/2212.08427 . 原論文の攻撃シナリオを参考に，日本語で構成と配置を独自に作成した。利用者がWebページを開いた後の流れを示す。通信はJavaScriptが仲介し，Wasmはハッシュ計算を担う。報酬はマイニングプール側の条件に従う。研究対象は通信や検知器ではなくWasmのコードと計算であ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3eb230d26f4e7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1dff408be745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2bb8786c147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cae0ed1b65424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fc78dd0d84d1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8657f96424f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7FC985-F08A-4704-88F1-020F9DDC17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1277408"/>
            <a:ext cx="9753600" cy="488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33E2CCC-C1EC-4572-8323-22A6CE0184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1859756"/>
            <a:ext cx="8534400" cy="3757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CDFB3A-BB1D-40D1-87A0-773C5085F5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1408906"/>
            <a:ext cx="9753600" cy="563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0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FE6840-796B-4EAD-B3F0-87D2A53E9D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62996"/>
            <a:ext cx="10820400" cy="413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867EB4-DC72-4CE4-8228-73FBD175F3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939271"/>
            <a:ext cx="10820400" cy="21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27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29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132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6356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384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6412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144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646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149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3A0119-6BBA-4218-807C-6502EAC41F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62996"/>
            <a:ext cx="10820400" cy="413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674508-CB8B-4B2A-BED0-33C3C83B84F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939271"/>
            <a:ext cx="5029200" cy="21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27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29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132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6356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384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6412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144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646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149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CF32960-420C-4AE4-8A5D-02561B0939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939271"/>
            <a:ext cx="5029200" cy="21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27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29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132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6356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384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6412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144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646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149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03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8227D8E-D6EE-4467-9DD0-3610C226C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262996"/>
            <a:ext cx="10820400" cy="4132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62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B05FF8-A954-4084-86EC-D309C5880E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939271"/>
            <a:ext cx="5029200" cy="2103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127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2629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4132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56356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71384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86412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014413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164696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314979" indent="-112712" algn="l">
              <a:lnSpc>
                <a:spcPct val="110000"/>
              </a:lnSpc>
              <a:spcBef>
                <a:spcPts val="0"/>
              </a:spcBef>
              <a:spcAft>
                <a:spcPts val="592"/>
              </a:spcAft>
              <a:buChar char="•"/>
              <a:defRPr sz="1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b49ac896d34c08" /><Relationship Type="http://schemas.openxmlformats.org/officeDocument/2006/relationships/slideLayout" Target="/ppt/slideLayouts/slideLayout1.xml" Id="R78baed9d97a74623" /><Relationship Type="http://schemas.openxmlformats.org/officeDocument/2006/relationships/slideLayout" Target="/ppt/slideLayouts/slideLayout2.xml" Id="R2e31a41747734361" /><Relationship Type="http://schemas.openxmlformats.org/officeDocument/2006/relationships/slideLayout" Target="/ppt/slideLayouts/slideLayout3.xml" Id="Rc9c249d7ff824144" /><Relationship Type="http://schemas.openxmlformats.org/officeDocument/2006/relationships/slideLayout" Target="/ppt/slideLayouts/slideLayout4.xml" Id="R9be7c80ceb02498a" /><Relationship Type="http://schemas.openxmlformats.org/officeDocument/2006/relationships/slideLayout" Target="/ppt/slideLayouts/slideLayout5.xml" Id="R895ad86134cd4000" /><Relationship Type="http://schemas.openxmlformats.org/officeDocument/2006/relationships/slideLayout" Target="/ppt/slideLayouts/slideLayout6.xml" Id="Rbf740419df3842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aed9d97a74623"/>
    <p:sldLayoutId xmlns:r="http://schemas.openxmlformats.org/officeDocument/2006/relationships" id="2147483650" r:id="R2e31a41747734361"/>
    <p:sldLayoutId xmlns:r="http://schemas.openxmlformats.org/officeDocument/2006/relationships" id="2147483651" r:id="Rc9c249d7ff824144"/>
    <p:sldLayoutId xmlns:r="http://schemas.openxmlformats.org/officeDocument/2006/relationships" id="2147483652" r:id="R9be7c80ceb02498a"/>
    <p:sldLayoutId xmlns:r="http://schemas.openxmlformats.org/officeDocument/2006/relationships" id="2147483653" r:id="R895ad86134cd4000"/>
    <p:sldLayoutId xmlns:r="http://schemas.openxmlformats.org/officeDocument/2006/relationships" id="2147483654" r:id="Rbf740419df3842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1644eaf3ed47eb" /><Relationship Type="http://schemas.openxmlformats.org/officeDocument/2006/relationships/notesSlide" Target="/ppt/notesSlides/notesSlide1.xml" Id="Ra50df9b499c34a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配信元">
            <a:extLst xmlns:a="http://schemas.openxmlformats.org/drawingml/2006/main">
              <a:ext uri="{FF2B5EF4-FFF2-40B4-BE49-F238E27FC236}">
                <a16:creationId xmlns:a16="http://schemas.microsoft.com/office/drawing/2014/main" id="{4EBD1775-576F-4A39-BA84-0B90C585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000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4351"/>
            </a:solidFill>
          </a:ln>
        </p:spPr>
      </p:sp>
      <p:sp>
        <p:nvSpPr>
          <p:cNvPr id="2" name="配信元見出し">
            <a:extLst xmlns:a="http://schemas.openxmlformats.org/drawingml/2006/main">
              <a:ext uri="{FF2B5EF4-FFF2-40B4-BE49-F238E27FC236}">
                <a16:creationId xmlns:a16="http://schemas.microsoft.com/office/drawing/2014/main" id="{98D4AD35-8D5D-4AC8-931E-CA07AD7F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571500"/>
            <a:ext cx="2362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7212B"/>
                </a:solidFill>
                <a:latin typeface="Meiryo"/>
                <a:ea typeface="Meiryo"/>
                <a:cs typeface="Meiryo"/>
              </a:rPr>
              <a:t>Webページ</a:t>
            </a:r>
          </a:p>
        </p:txBody>
      </p:sp>
      <p:sp>
        <p:nvSpPr>
          <p:cNvPr id="3" name="配信コード">
            <a:extLst xmlns:a="http://schemas.openxmlformats.org/drawingml/2006/main">
              <a:ext uri="{FF2B5EF4-FFF2-40B4-BE49-F238E27FC236}">
                <a16:creationId xmlns:a16="http://schemas.microsoft.com/office/drawing/2014/main" id="{2C86582F-5B02-475B-B88E-50F891BE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066800"/>
            <a:ext cx="2362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JavaScript＋Wasm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難読化したWasmを含む</a:t>
            </a:r>
          </a:p>
        </p:txBody>
      </p:sp>
      <p:sp>
        <p:nvSpPr>
          <p:cNvPr id="4" name="ブラウザ">
            <a:extLst xmlns:a="http://schemas.openxmlformats.org/drawingml/2006/main">
              <a:ext uri="{FF2B5EF4-FFF2-40B4-BE49-F238E27FC236}">
                <a16:creationId xmlns:a16="http://schemas.microsoft.com/office/drawing/2014/main" id="{B623B5FF-B0F0-4C2D-BCBB-5782B26B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00050"/>
            <a:ext cx="3619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4351"/>
            </a:solidFill>
          </a:ln>
        </p:spPr>
      </p:sp>
      <p:sp>
        <p:nvSpPr>
          <p:cNvPr id="5" name="ブラウザ見出し">
            <a:extLst xmlns:a="http://schemas.openxmlformats.org/drawingml/2006/main">
              <a:ext uri="{FF2B5EF4-FFF2-40B4-BE49-F238E27FC236}">
                <a16:creationId xmlns:a16="http://schemas.microsoft.com/office/drawing/2014/main" id="{C79F9A78-DB6C-47BF-8FF6-9412869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14350"/>
            <a:ext cx="342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17212B"/>
                </a:solidFill>
                <a:latin typeface="Meiryo"/>
                <a:ea typeface="Meiryo"/>
                <a:cs typeface="Meiryo"/>
              </a:rPr>
              <a:t>利用者のブラウザ</a:t>
            </a:r>
          </a:p>
        </p:txBody>
      </p:sp>
      <p:sp>
        <p:nvSpPr>
          <p:cNvPr id="6" name="通信">
            <a:extLst xmlns:a="http://schemas.openxmlformats.org/drawingml/2006/main">
              <a:ext uri="{FF2B5EF4-FFF2-40B4-BE49-F238E27FC236}">
                <a16:creationId xmlns:a16="http://schemas.microsoft.com/office/drawing/2014/main" id="{1E7FA62E-5C03-44EC-9905-719B0B49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9810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JavaScript：通信・呼出し</a:t>
            </a:r>
          </a:p>
        </p:txBody>
      </p:sp>
      <p:sp>
        <p:nvSpPr>
          <p:cNvPr id="7" name="研究対象">
            <a:extLst xmlns:a="http://schemas.openxmlformats.org/drawingml/2006/main">
              <a:ext uri="{FF2B5EF4-FFF2-40B4-BE49-F238E27FC236}">
                <a16:creationId xmlns:a16="http://schemas.microsoft.com/office/drawing/2014/main" id="{3EDAE809-B8B9-4B39-962F-586EBB86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438275"/>
            <a:ext cx="335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2F8"/>
          </a:solidFill>
          <a:ln xmlns:a="http://schemas.openxmlformats.org/drawingml/2006/main" w="19050">
            <a:solidFill>
              <a:srgbClr val="24547A"/>
            </a:solidFill>
          </a:ln>
        </p:spPr>
      </p:sp>
      <p:sp>
        <p:nvSpPr>
          <p:cNvPr id="8" name="ハッシュ計算">
            <a:extLst xmlns:a="http://schemas.openxmlformats.org/drawingml/2006/main">
              <a:ext uri="{FF2B5EF4-FFF2-40B4-BE49-F238E27FC236}">
                <a16:creationId xmlns:a16="http://schemas.microsoft.com/office/drawing/2014/main" id="{F72EE50F-EE0D-4B79-A647-CE1BD41F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57325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defPPr>
            <a:lvl1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1pPr>
            <a:lvl2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2pPr>
            <a:lvl3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3pPr>
            <a:lvl4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4pPr>
            <a:lvl5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5pPr>
            <a:lvl6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6pPr>
            <a:lvl7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7pPr>
            <a:lvl8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8pPr>
            <a:lvl9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83E60"/>
                </a:solidFill>
                <a:latin typeface="Meiryo"/>
                <a:ea typeface="Meiryo"/>
                <a:cs typeface="Meiryo"/>
              </a:rPr>
              <a:t>③ Wasmでハッシュ計算</a:t>
            </a:r>
          </a:p>
          <a:p xmlns:a="http://schemas.openxmlformats.org/drawingml/2006/main">
            <a:pPr algn="ctr">
              <a:defRPr sz="1725" b="1">
                <a:solidFill>
                  <a:srgbClr val="183E60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183E60"/>
                </a:solidFill>
                <a:latin typeface="Meiryo"/>
                <a:ea typeface="Meiryo"/>
                <a:cs typeface="Meiryo"/>
              </a:rPr>
              <a:t>利用者の同意なくCPUを使用</a:t>
            </a:r>
          </a:p>
        </p:txBody>
      </p:sp>
      <p:sp>
        <p:nvSpPr>
          <p:cNvPr id="9" name="プール">
            <a:extLst xmlns:a="http://schemas.openxmlformats.org/drawingml/2006/main">
              <a:ext uri="{FF2B5EF4-FFF2-40B4-BE49-F238E27FC236}">
                <a16:creationId xmlns:a16="http://schemas.microsoft.com/office/drawing/2014/main" id="{A4F56113-A73B-48B8-935D-83CCAD20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0050"/>
            <a:ext cx="22669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4351"/>
            </a:solidFill>
          </a:ln>
        </p:spPr>
      </p:sp>
      <p:sp>
        <p:nvSpPr>
          <p:cNvPr id="10" name="プール見出し">
            <a:extLst xmlns:a="http://schemas.openxmlformats.org/drawingml/2006/main">
              <a:ext uri="{FF2B5EF4-FFF2-40B4-BE49-F238E27FC236}">
                <a16:creationId xmlns:a16="http://schemas.microsoft.com/office/drawing/2014/main" id="{691DEDB7-399A-4B0B-9A67-898E7E26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542925"/>
            <a:ext cx="2114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17212B"/>
                </a:solidFill>
                <a:latin typeface="Meiryo"/>
                <a:ea typeface="Meiryo"/>
                <a:cs typeface="Meiryo"/>
              </a:rPr>
              <a:t>マイニングプール</a:t>
            </a:r>
          </a:p>
        </p:txBody>
      </p:sp>
      <p:sp>
        <p:nvSpPr>
          <p:cNvPr id="11" name="プール説明">
            <a:extLst xmlns:a="http://schemas.openxmlformats.org/drawingml/2006/main">
              <a:ext uri="{FF2B5EF4-FFF2-40B4-BE49-F238E27FC236}">
                <a16:creationId xmlns:a16="http://schemas.microsoft.com/office/drawing/2014/main" id="{0E99DC9D-CD65-4CEB-9974-7A931A1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76325"/>
            <a:ext cx="21145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計算タスクを配分</a:t>
            </a:r>
          </a:p>
          <a:p xmlns:a="http://schemas.openxmlformats.org/drawingml/2006/main">
            <a:pPr algn="ctr">
              <a:defRPr sz="1650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受信した結果を確認</a:t>
            </a:r>
          </a:p>
        </p:txBody>
      </p:sp>
      <p:sp>
        <p:nvSpPr>
          <p:cNvPr id="12" name="配信ラベル">
            <a:extLst xmlns:a="http://schemas.openxmlformats.org/drawingml/2006/main">
              <a:ext uri="{FF2B5EF4-FFF2-40B4-BE49-F238E27FC236}">
                <a16:creationId xmlns:a16="http://schemas.microsoft.com/office/drawing/2014/main" id="{AE33997D-E24E-4762-B4A1-664DFF393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00075"/>
            <a:ext cx="1676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①ダウンロード</a:t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させる</a:t>
            </a:r>
          </a:p>
        </p:txBody>
      </p:sp>
      <p:cxnSp>
        <p:nvCxnSpPr>
          <p:cNvPr id="13" name="コード配信">
            <a:extLst xmlns:a="http://schemas.openxmlformats.org/drawingml/2006/main">
              <a:ext uri="{FF2B5EF4-FFF2-40B4-BE49-F238E27FC236}">
                <a16:creationId xmlns:a16="http://schemas.microsoft.com/office/drawing/2014/main" id="{3BADD323-FE77-4676-B5F7-212A9250B663}"/>
              </a:ext>
            </a:extLst>
          </p:cNvPr>
          <p:cNvCxnSpPr/>
          <p:nvPr/>
        </p:nvCxnSpPr>
        <p:spPr>
          <a:xfrm xmlns:a="http://schemas.openxmlformats.org/drawingml/2006/main">
            <a:off x="2714625" y="1304925"/>
            <a:ext cx="1685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4351"/>
            </a:solidFill>
            <a:tailEnd type="triangle" w="med" len="med"/>
          </a:ln>
        </p:spPr>
      </p:cxnSp>
      <p:sp>
        <p:nvSpPr>
          <p:cNvPr id="14" name="仕事ラベル">
            <a:extLst xmlns:a="http://schemas.openxmlformats.org/drawingml/2006/main">
              <a:ext uri="{FF2B5EF4-FFF2-40B4-BE49-F238E27FC236}">
                <a16:creationId xmlns:a16="http://schemas.microsoft.com/office/drawing/2014/main" id="{45FD1359-24D3-4C60-9F8E-2C9FCE9A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905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②計算タスク</a:t>
            </a:r>
          </a:p>
        </p:txBody>
      </p:sp>
      <p:cxnSp>
        <p:nvCxnSpPr>
          <p:cNvPr id="15" name="仕事受信">
            <a:extLst xmlns:a="http://schemas.openxmlformats.org/drawingml/2006/main">
              <a:ext uri="{FF2B5EF4-FFF2-40B4-BE49-F238E27FC236}">
                <a16:creationId xmlns:a16="http://schemas.microsoft.com/office/drawing/2014/main" id="{7C892800-10D6-404F-A74C-13E756EA8451}"/>
              </a:ext>
            </a:extLst>
          </p:cNvPr>
          <p:cNvCxnSpPr/>
          <p:nvPr/>
        </p:nvCxnSpPr>
        <p:spPr>
          <a:xfrm xmlns:a="http://schemas.openxmlformats.org/drawingml/2006/main">
            <a:off x="8134350" y="11239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4351"/>
            </a:solidFill>
            <a:headEnd type="triangle" w="med" len="med"/>
          </a:ln>
        </p:spPr>
      </p:cxnSp>
      <p:sp>
        <p:nvSpPr>
          <p:cNvPr id="16" name="結果ラベル">
            <a:extLst xmlns:a="http://schemas.openxmlformats.org/drawingml/2006/main">
              <a:ext uri="{FF2B5EF4-FFF2-40B4-BE49-F238E27FC236}">
                <a16:creationId xmlns:a16="http://schemas.microsoft.com/office/drawing/2014/main" id="{C3C64913-39FD-4192-B99F-85A603F1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725" b="0">
                <a:solidFill>
                  <a:srgbClr val="17212B"/>
                </a:solidFill>
                <a:latin typeface="Meiryo"/>
                <a:ea typeface="Meiryo"/>
                <a:cs typeface="Meiryo"/>
              </a:rPr>
              <a:t>④結果を送信</a:t>
            </a:r>
          </a:p>
        </p:txBody>
      </p:sp>
      <p:cxnSp>
        <p:nvCxnSpPr>
          <p:cNvPr id="17" name="結果送信">
            <a:extLst xmlns:a="http://schemas.openxmlformats.org/drawingml/2006/main">
              <a:ext uri="{FF2B5EF4-FFF2-40B4-BE49-F238E27FC236}">
                <a16:creationId xmlns:a16="http://schemas.microsoft.com/office/drawing/2014/main" id="{96D65AD8-B409-4A53-A1B3-176497D1C765}"/>
              </a:ext>
            </a:extLst>
          </p:cNvPr>
          <p:cNvCxnSpPr/>
          <p:nvPr/>
        </p:nvCxnSpPr>
        <p:spPr>
          <a:xfrm xmlns:a="http://schemas.openxmlformats.org/drawingml/2006/main">
            <a:off x="8134350" y="2066925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4351"/>
            </a:solidFill>
            <a:tailEnd type="triangle" w="med" len="med"/>
          </a:ln>
        </p:spPr>
      </p:cxnSp>
      <p:cxnSp>
        <p:nvCxnSpPr>
          <p:cNvPr id="18" name="報酬">
            <a:extLst xmlns:a="http://schemas.openxmlformats.org/drawingml/2006/main">
              <a:ext uri="{FF2B5EF4-FFF2-40B4-BE49-F238E27FC236}">
                <a16:creationId xmlns:a16="http://schemas.microsoft.com/office/drawing/2014/main" id="{2B1D50C5-5139-48EB-9329-77065B33DF4A}"/>
              </a:ext>
            </a:extLst>
          </p:cNvPr>
          <p:cNvCxnSpPr/>
          <p:nvPr/>
        </p:nvCxnSpPr>
        <p:spPr>
          <a:xfrm xmlns:a="http://schemas.openxmlformats.org/drawingml/2006/main">
            <a:off x="10953750" y="234315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54351"/>
            </a:solidFill>
            <a:tailEnd type="triangle" w="med" len="med"/>
          </a:ln>
        </p:spPr>
      </p:cxnSp>
      <p:sp>
        <p:nvSpPr>
          <p:cNvPr id="19" name="攻撃者">
            <a:extLst xmlns:a="http://schemas.openxmlformats.org/drawingml/2006/main">
              <a:ext uri="{FF2B5EF4-FFF2-40B4-BE49-F238E27FC236}">
                <a16:creationId xmlns:a16="http://schemas.microsoft.com/office/drawing/2014/main" id="{87CB7C61-FAB7-427A-A4EE-E46B25B7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71775"/>
            <a:ext cx="2266950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54351"/>
            </a:solidFill>
          </a:ln>
        </p:spPr>
      </p:sp>
      <p:sp>
        <p:nvSpPr>
          <p:cNvPr id="20" name="攻撃者報酬">
            <a:extLst xmlns:a="http://schemas.openxmlformats.org/drawingml/2006/main">
              <a:ext uri="{FF2B5EF4-FFF2-40B4-BE49-F238E27FC236}">
                <a16:creationId xmlns:a16="http://schemas.microsoft.com/office/drawing/2014/main" id="{5C114813-4DC2-41E8-B425-9D6B554B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035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defPPr>
            <a:lvl1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1pPr>
            <a:lvl2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2pPr>
            <a:lvl3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3pPr>
            <a:lvl4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4pPr>
            <a:lvl5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5pPr>
            <a:lvl6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6pPr>
            <a:lvl7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7pPr>
            <a:lvl8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8pPr>
            <a:lvl9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7212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17212B"/>
                </a:solidFill>
                <a:latin typeface="Meiryo"/>
                <a:ea typeface="Meiryo"/>
                <a:cs typeface="Meiryo"/>
              </a:rPr>
              <a:t>⑤攻撃者に報酬</a:t>
            </a:r>
          </a:p>
        </p:txBody>
      </p:sp>
    </p:spTree>
    <p:extLst>
      <p:ext uri="{BB962C8B-B14F-4D97-AF65-F5344CB8AC3E}">
        <p14:creationId xmlns:p14="http://schemas.microsoft.com/office/powerpoint/2010/main" val="1655248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2026-10-26T04:55:03.3990000Z</dcterms:created>
  <dcterms:modified xsi:type="dcterms:W3CDTF">2026-10-26T04:55:03.3990000Z</dcterms:modified>
</coreProperties>
</file>